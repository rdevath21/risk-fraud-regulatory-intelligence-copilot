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4" r:id="rId3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6" y="179"/>
            <a:ext cx="12191389" cy="685764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37049" y="4256757"/>
            <a:ext cx="9536703" cy="49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28" tIns="102328" rIns="102328" bIns="102328" anchor="t" anchorCtr="0">
            <a:normAutofit fontScale="9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 panose="020B0604020202020204"/>
              <a:buNone/>
            </a:pPr>
            <a:r>
              <a:rPr lang="en-GB" sz="1795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lang="en-IN" altLang="en-GB" sz="1795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en-IN" altLang="en-GB" sz="1795" b="1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Flake Avengers</a:t>
            </a:r>
            <a:endParaRPr lang="en-IN" altLang="en-GB" sz="1795" b="1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37023" y="5666765"/>
            <a:ext cx="9536703" cy="45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28" tIns="102328" rIns="102328" bIns="102328" anchor="t" anchorCtr="0">
            <a:normAutofit fontScale="80000"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 panose="020B0604020202020204"/>
              <a:buNone/>
            </a:pPr>
            <a:r>
              <a:rPr lang="en-GB" sz="1795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lang="en-IN" altLang="en-GB" sz="1795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en-IN" altLang="en-GB" sz="1795" b="1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Risk, Fraud and Regulatory Intelligence Copilot</a:t>
            </a:r>
            <a:endParaRPr lang="en-IN" altLang="en-GB" sz="1795" b="1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37036" y="4712808"/>
            <a:ext cx="9536703" cy="49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28" tIns="102328" rIns="102328" bIns="102328" anchor="t" anchorCtr="0">
            <a:normAutofit fontScale="9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 panose="020B0604020202020204"/>
              <a:buNone/>
            </a:pPr>
            <a:r>
              <a:rPr lang="en-GB" sz="1795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lang="en-IN" altLang="en-GB" sz="1795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en-IN" altLang="en-GB" sz="1795" b="1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RAJASEKHAR DEVATHA</a:t>
            </a:r>
            <a:endParaRPr lang="en-IN" altLang="en-GB" sz="1795" b="1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37023" y="5209589"/>
            <a:ext cx="9536703" cy="45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28" tIns="102328" rIns="102328" bIns="102328" anchor="t" anchorCtr="0">
            <a:normAutofit fontScale="80000"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 panose="020B0604020202020204"/>
              <a:buNone/>
            </a:pPr>
            <a:r>
              <a:rPr lang="en-GB" sz="1795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r>
              <a:rPr lang="en-IN" altLang="en-GB" sz="1795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3</a:t>
            </a:r>
            <a:endParaRPr lang="en-IN" altLang="en-GB" sz="1795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 panose="020F0502020204030204"/>
              </a:defRPr>
            </a:pPr>
            <a:r>
              <a:t>CoCo Hackathon GCC Edition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2E8F0"/>
                </a:solidFill>
                <a:latin typeface="Calibri" panose="020F0502020204030204"/>
              </a:defRPr>
            </a:pPr>
            <a:r>
              <a:t>Risk, Fraud &amp;</a:t>
            </a:r>
            <a:br/>
            <a:r>
              <a:t>Regulatory Intelligence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 panose="020F0502020204030204"/>
              </a:defRPr>
            </a:pPr>
            <a:r>
              <a:t>AI-powered compliance investigation platform that surfaces risk signals,</a:t>
            </a:r>
            <a:br/>
            <a:r>
              <a:t>generates audit-ready evidence, and produces regulatory outputs</a:t>
            </a:r>
            <a:br/>
            <a:r>
              <a:t>from natural language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 panose="020F0502020204030204"/>
              </a:defRPr>
            </a:pPr>
            <a:r>
              <a:t>Snowflake Cortex AI   |   CoCo Desktop   |   Streamlit   |   MCP Server   |   Cortex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 panose="020F0502020204030204"/>
              </a:defRPr>
            </a:pPr>
            <a:r>
              <a:t>Built end-to-end with CoCo Desktop  |  40+ Snowflake Objects  |  3 Cortex Agents  |  5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 panose="020F0502020204030204"/>
              </a:defRPr>
            </a:pPr>
            <a:r>
              <a:t>GitHub: github.com/rdevath21/risk-fraud-regulatory-intelligence-copilot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 panose="020F0502020204030204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alibri" panose="020F0502020204030204"/>
              </a:defRPr>
            </a:pPr>
            <a:r>
              <a:t>PROBLEM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 panose="020F0502020204030204"/>
              </a:defRPr>
            </a:pPr>
            <a:r>
              <a:t>02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 panose="020F0502020204030204"/>
              </a:defRPr>
            </a:pPr>
            <a:r>
              <a:t>The Problem We 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0116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 panose="020F0502020204030204"/>
              </a:defRPr>
            </a:pPr>
            <a:r>
              <a:t>Industry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 panose="020F0502020204030204"/>
              </a:defRPr>
            </a:pPr>
            <a:r>
              <a:t>Banking and NBFC teams manage real-time fraud detection, liquidity risk, credit risk, and regulatory reporting (AML, Basel, local regulations). These processes are largely manual today, creating compliance gaps and investigation backlogs.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5303520" cy="27432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 panose="020F0502020204030204"/>
              </a:defRPr>
            </a:pPr>
            <a:r>
              <a:t>Current 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 panose="020F0502020204030204"/>
              </a:defRPr>
            </a:pPr>
            <a:r>
              <a:t>X  4-8 hours per alert for manual investigation and evidence compilation</a:t>
            </a:r>
            <a:br/>
            <a:br/>
            <a:r>
              <a:t>X  Regulatory policies scattered across dozens of documents with no unified search</a:t>
            </a:r>
            <a:br/>
            <a:br/>
            <a:r>
              <a:t>X  No audit trail for AI-assisted decisions - regulators demand explainability</a:t>
            </a:r>
            <a:br/>
            <a:br/>
            <a:r>
              <a:t>X  SAR filing backlogs: 30-day deadline often at risk due to slow evidence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 panose="020F0502020204030204"/>
              </a:defRPr>
            </a:pPr>
            <a:r>
              <a:t>TARGET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828800"/>
            <a:ext cx="5029200" cy="118872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 panose="020F0502020204030204"/>
              </a:defRPr>
            </a:pPr>
            <a:r>
              <a:t>AML Compliance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86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Triages alerts daily, investigates suspicious transactions, generates SAR evidence packages. Needs fast access to transaction data + regulatory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200400"/>
            <a:ext cx="5029200" cy="118872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 panose="020F0502020204030204"/>
              </a:defRPr>
            </a:pPr>
            <a:r>
              <a:t>BSA Officer / Compliance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657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Reviews investigations, makes SAR filing decisions, reports to board. Needs governed, auditable outputs with regulatory citations.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572000"/>
            <a:ext cx="5029200" cy="118872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 panose="020F0502020204030204"/>
              </a:defRPr>
            </a:pPr>
            <a:r>
              <a:t>Risk Auditor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029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Performs periodic reviews of investigation quality and AI usage. Needs read-only access with full audit trail visibility.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 panose="020F0502020204030204"/>
              </a:defRPr>
            </a:pPr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 panose="020F0502020204030204"/>
              </a:defRPr>
            </a:pPr>
            <a: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 panose="020F0502020204030204"/>
              </a:defRPr>
            </a:pPr>
            <a:r>
              <a:t>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 panose="020F0502020204030204"/>
              </a:defRPr>
            </a:pPr>
            <a:r>
              <a:t>RAW Schema - Data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Landing zone. Daily task (2AM UTC) generates synthetic transactions. Stream captures CDC.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923C"/>
                </a:solidFill>
                <a:latin typeface="Calibri" panose="020F0502020204030204"/>
              </a:defRPr>
            </a:pPr>
            <a:r>
              <a:t>RAW_CUSTOMERS  |  RAW_TRANSACTIONS  |  RAW_RISK_SCORES  |  RAW_ALERTS  |  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  <a:latin typeface="Calibri" panose="020F0502020204030204"/>
              </a:defRPr>
            </a:pPr>
            <a:r>
              <a:t>6 Dynamic Tables (auto-refresh, 1-min lag)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 panose="020F0502020204030204"/>
              </a:defRPr>
            </a:pPr>
            <a:r>
              <a:t>TRANSFORM Schema - Business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Enrichment: amount buckets, risk flags, SLA tracking, KYC actions, pattern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alibri" panose="020F0502020204030204"/>
              </a:defRPr>
            </a:pPr>
            <a:r>
              <a:t>DT_CUSTOMERS  |  DT_TRANSACTIONS  |  DT_RISK_ENRICHED</a:t>
            </a:r>
            <a:br/>
            <a:r>
              <a:t>DT_ALERT_ENRICHED  |  DT_SUSPICIOUS_PATTERNS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55F7"/>
                </a:solidFill>
                <a:latin typeface="Calibri" panose="020F0502020204030204"/>
              </a:defRPr>
            </a:pPr>
            <a:r>
              <a:t>Semantic View + Cortex Search + AI Functions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69848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 panose="020F0502020204030204"/>
              </a:defRPr>
            </a:pPr>
            <a:r>
              <a:t>SEMANTIC Schema - Intelligence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Semantic view (16 dims, 4 metrics, 4 VQRs) + RAG (18 chunks) + Cortex Search.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55F7"/>
                </a:solidFill>
                <a:latin typeface="Calibri" panose="020F0502020204030204"/>
              </a:defRPr>
            </a:pPr>
            <a:r>
              <a:t>SV_RISK_INTELLIGENCE  |  SEARCH_SERVICE  |  AI_EXTRACT  |  AI_CLASSIFY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D399"/>
                </a:solidFill>
                <a:latin typeface="Calibri" panose="020F0502020204030204"/>
              </a:defRPr>
            </a:pPr>
            <a:r>
              <a:t>3 Cortex Agents + MCP Server + 5 Surfaces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 panose="020F0502020204030204"/>
              </a:defRPr>
            </a:pPr>
            <a:r>
              <a:t>Application Layer - Multi-Surface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 panose="020F0502020204030204"/>
              </a:defRPr>
            </a:pPr>
            <a:r>
              <a:t>STREAMLIT  |  CORTEX AGENTS (3)  |  MCP SERVER  |  COCO SKILLS (3)  |  SLACK 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 panose="020F0502020204030204"/>
              </a:defRPr>
            </a:pPr>
            <a:r>
              <a:t>COCO SKILLS &amp;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 panose="020F0502020204030204"/>
              </a:defRPr>
            </a:pPr>
            <a:r>
              <a:t>04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 panose="020F0502020204030204"/>
              </a:defRPr>
            </a:pPr>
            <a:r>
              <a:t>CoCo Skills &amp; Multi-Agent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 panose="020F0502020204030204"/>
              </a:defRPr>
            </a:pPr>
            <a:r>
              <a:t>Reusable CoCo Skills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10972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 panose="020F0502020204030204"/>
              </a:defRPr>
            </a:pPr>
            <a:r>
              <a:t>/risk-copilot-deploy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Deploys entire copilot to any Snowflake account: schemas, data, pipelines, agents, Streamlit app. Single command.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303520" cy="10972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 panose="020F0502020204030204"/>
              </a:defRPr>
            </a:pPr>
            <a:r>
              <a:t>/risk-copilot-investigate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Investigates an alert or customer with RAG-backed AI evidence generation and audit logging.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5303520" cy="10972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 panose="020F0502020204030204"/>
              </a:defRPr>
            </a:pPr>
            <a:r>
              <a:t>/risk-copilot-orchestrate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Coordinates 3 agents with clear handoffs: Triage -&gt; Compliance -&gt; Intelligence synthesis.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Calibri" panose="020F0502020204030204"/>
              </a:defRPr>
            </a:pPr>
            <a:r>
              <a:t>Multi-Agent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828800"/>
            <a:ext cx="502920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920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 panose="020F0502020204030204"/>
              </a:defRPr>
            </a:pPr>
            <a:r>
              <a:t>RISK_TRIAGE_AGENT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Data Specialist - cortex_analyst_text_to_sql</a:t>
            </a:r>
            <a:br/>
            <a:r>
              <a:t>Screens alerts, pulls transactions, risk scores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BDF8"/>
                </a:solidFill>
                <a:latin typeface="Calibri" panose="020F0502020204030204"/>
              </a:defRPr>
            </a:pPr>
            <a:r>
              <a:t>handoff: triage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200400"/>
            <a:ext cx="502920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291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 panose="020F0502020204030204"/>
              </a:defRPr>
            </a:pPr>
            <a:r>
              <a:t>REGULATORY_COMPLIANCE_AGENT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Policy Expert - cortex_search (RAG)</a:t>
            </a:r>
            <a:br/>
            <a:r>
              <a:t>Finds applicable regulations, filing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855F7"/>
                </a:solidFill>
                <a:latin typeface="Calibri" panose="020F0502020204030204"/>
              </a:defRPr>
            </a:pPr>
            <a:r>
              <a:t>handoff: regulatory citations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572000"/>
            <a:ext cx="502920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663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 panose="020F0502020204030204"/>
              </a:defRPr>
            </a:pPr>
            <a:r>
              <a:t>RISK_INTELLIGENCE_AGENT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Orchestrator - both tools combined</a:t>
            </a:r>
            <a:br/>
            <a:r>
              <a:t>Synthesizes data + regulations into evidence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 panose="020F0502020204030204"/>
              </a:defRPr>
            </a:pPr>
            <a:r>
              <a:t>SOLUTION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 panose="020F0502020204030204"/>
              </a:defRPr>
            </a:pPr>
            <a: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 panose="020F0502020204030204"/>
              </a:defRPr>
            </a:pPr>
            <a:r>
              <a:t>Signal -&gt; Evidence -&gt; Documented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 panose="020F0502020204030204"/>
              </a:defRPr>
            </a:pPr>
            <a:r>
              <a:t>Complete flow in a 5-page Streamlit copilot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11680" cy="2926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 panose="020F0502020204030204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Color-coded KPI cards, severity badges, detection coverage, transaction volume trends, recent AI activity feed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737360"/>
            <a:ext cx="2011680" cy="2926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 panose="020F0502020204030204"/>
              </a:defRPr>
            </a:pPr>
            <a:r>
              <a:t>Investigation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8600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Alert drill-down, customer profile cards, risk score gauge, transaction timeline, one-click evidence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737360"/>
            <a:ext cx="2011680" cy="2926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 panose="020F0502020204030204"/>
              </a:defRPr>
            </a:pPr>
            <a:r>
              <a:t>Regulatory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28600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RAG-backed Q&amp;A, styled chat bubbles, source cards with citations, confidence scoring (HIGH/MED/LOW)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737360"/>
            <a:ext cx="2011680" cy="2926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Calibri" panose="020F0502020204030204"/>
              </a:defRPr>
            </a:pPr>
            <a:r>
              <a:t>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28600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Full log of every AI action: query, RAG context, LLM response, user, timestamp. Charts +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737360"/>
            <a:ext cx="2011680" cy="2926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Calibri" panose="020F0502020204030204"/>
              </a:defRPr>
            </a:pPr>
            <a:r>
              <a:t>System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28600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Pipeline status, dynamic table freshness, task history, search service, agent/MCP 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 panose="020F0502020204030204"/>
              </a:defRPr>
            </a:pPr>
            <a:r>
              <a:t>9 Fraud &amp; Risk Patterns 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 panose="020F0502020204030204"/>
              </a:defRPr>
            </a:pPr>
            <a:r>
              <a:t>  Structuring (sub-$10k deposits)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 panose="020F0502020204030204"/>
              </a:defRPr>
            </a:pPr>
            <a:r>
              <a:t>  Layering (multi-jurisdiction)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 panose="020F0502020204030204"/>
              </a:defRPr>
            </a:pPr>
            <a:r>
              <a:t>  Round-Tripping (circular flows)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 panose="020F0502020204030204"/>
              </a:defRPr>
            </a:pPr>
            <a:r>
              <a:t>  Velocity Anomaly (burst activity)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 panose="020F0502020204030204"/>
              </a:defRPr>
            </a:pPr>
            <a:r>
              <a:t>  Dormant Reactivation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 panose="020F0502020204030204"/>
              </a:defRPr>
            </a:pPr>
            <a:r>
              <a:t>  Shell Company Activity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 panose="020F0502020204030204"/>
              </a:defRPr>
            </a:pPr>
            <a:r>
              <a:t>  KYC Expired Activity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 panose="020F0502020204030204"/>
              </a:defRPr>
            </a:pPr>
            <a:r>
              <a:t>  PEP Large Transactions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 panose="020F0502020204030204"/>
              </a:defRPr>
            </a:pPr>
            <a:r>
              <a:t>  Mule Account Indicators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 panose="020F0502020204030204"/>
              </a:defRPr>
            </a:pPr>
            <a:r>
              <a:t>GUARDRAILS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 panose="020F0502020204030204"/>
              </a:defRPr>
            </a:pPr>
            <a:r>
              <a:t>06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 panose="020F0502020204030204"/>
              </a:defRPr>
            </a:pPr>
            <a:r>
              <a:t>Governed, Trustworthy AI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 panose="020F0502020204030204"/>
              </a:defRPr>
            </a:pPr>
            <a:r>
              <a:t>AI Safety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 panose="020F0502020204030204"/>
              </a:defRPr>
            </a:pPr>
            <a:r>
              <a:t>Input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848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Blocks SQL injection (DROP, DELETE, TRUNCATE, MERGE), enforces 1000-char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 panose="020F0502020204030204"/>
              </a:defRPr>
            </a:pPr>
            <a:r>
              <a:t>Topic Relevance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24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Restricts to 20+ allowed topics (risk, fraud, AML, compliance, etc.)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 panose="020F0502020204030204"/>
              </a:defRPr>
            </a:pPr>
            <a:r>
              <a:t>Confidence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649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HIGH/MEDIUM/LOW based on regulatory citation count in LLM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 panose="020F0502020204030204"/>
              </a:defRPr>
            </a:pPr>
            <a:r>
              <a:t>RAG Grounding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05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LLM uses ONLY regulatory context. Flags uncertainty explicitly.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 panose="020F0502020204030204"/>
              </a:defRPr>
            </a:pPr>
            <a:r>
              <a:t>Output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45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Detects low-confidence phrases, missing citations, short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 panose="020F0502020204030204"/>
              </a:defRPr>
            </a:pPr>
            <a:r>
              <a:t>Blocked Keywords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85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11 dangerous SQL patterns blocked at input layer (read-only copilot)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 panose="020F0502020204030204"/>
              </a:defRPr>
            </a:pPr>
            <a:r>
              <a:t>Error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925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Cortex API failures return user-friendly messages, never raw traces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Calibri" panose="020F0502020204030204"/>
              </a:defRPr>
            </a:pPr>
            <a:r>
              <a:t>Data Governance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828800"/>
            <a:ext cx="5029200" cy="100584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920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 panose="020F0502020204030204"/>
              </a:defRPr>
            </a:pPr>
            <a:r>
              <a:t>RBAC - Role-Based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RISK_ANALYST: Investigate + generate evidence</a:t>
            </a:r>
            <a:br/>
            <a:r>
              <a:t>RISK_AUDITOR: Read-only access + audit trail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017520"/>
            <a:ext cx="5029200" cy="118872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108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 panose="020F0502020204030204"/>
              </a:defRPr>
            </a:pPr>
            <a:r>
              <a:t>PII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383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Dynamic Masking: PII_MASK policy on name, email, phone</a:t>
            </a:r>
            <a:br/>
            <a:r>
              <a:t>Semantic Tags: SNOWFLAKE.CORE.SEMANTIC_CATEGORY</a:t>
            </a:r>
            <a:br/>
            <a:r>
              <a:t>RISK_AUDITOR sees: ***MASKED***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389120"/>
            <a:ext cx="502920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480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 panose="020F0502020204030204"/>
              </a:defRPr>
            </a:pPr>
            <a:r>
              <a:t>Complete Audit Trail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Every AI interaction logged: action type, alert ID, user query, RAG context, LLM response, user, timestamp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5486400"/>
            <a:ext cx="5029200" cy="82296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 panose="020F0502020204030204"/>
              </a:defRPr>
            </a:pPr>
            <a:r>
              <a:t>Human-in-the-Loop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AI outputs are advisory only. Human investigator must review and approve before SAR filing.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 panose="020F0502020204030204"/>
              </a:defRPr>
            </a:pPr>
            <a:r>
              <a:t>IMPACT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 panose="020F0502020204030204"/>
              </a:defRPr>
            </a:pPr>
            <a:r>
              <a:t>07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 panose="020F0502020204030204"/>
              </a:defRPr>
            </a:pPr>
            <a:r>
              <a:t>Measurable Impact &amp;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13716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Calibri" panose="020F0502020204030204"/>
              </a:defRPr>
            </a:pPr>
            <a:r>
              <a:t>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Calibri" panose="020F0502020204030204"/>
              </a:defRPr>
            </a:pPr>
            <a:r>
              <a:t>Faster Investigation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4-8 hours -&gt; 30-45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71600"/>
            <a:ext cx="2560320" cy="13716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Calibri" panose="020F0502020204030204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Calibri" panose="020F0502020204030204"/>
              </a:defRPr>
            </a:pPr>
            <a:r>
              <a:t>Audit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Every AI interaction logged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560320" cy="13716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855F7"/>
                </a:solidFill>
                <a:latin typeface="Calibri" panose="020F0502020204030204"/>
              </a:defRPr>
            </a:pPr>
            <a:r>
              <a:t>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Calibri" panose="020F0502020204030204"/>
              </a:defRPr>
            </a:pPr>
            <a:r>
              <a:t>More Alerts Processed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Same team, 5x throughput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560320" cy="13716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923C"/>
                </a:solidFill>
                <a:latin typeface="Calibri" panose="020F0502020204030204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Calibri" panose="020F0502020204030204"/>
              </a:defRPr>
            </a:pPr>
            <a:r>
              <a:t>Data Movement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All native in Snowflake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 panose="020F0502020204030204"/>
              </a:defRPr>
            </a:pPr>
            <a:r>
              <a:t>BEFORE vs AFTER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 panose="020F0502020204030204"/>
              </a:defRPr>
            </a:pPr>
            <a:r>
              <a:t>Manual regulatory document search (30+ min)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 panose="020F0502020204030204"/>
              </a:defRPr>
            </a:pPr>
            <a: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Instant RAG-powered policy lookup with citations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77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 panose="020F0502020204030204"/>
              </a:defRPr>
            </a:pPr>
            <a:r>
              <a:t>Copy-paste evidence from 5+ systems into Word doc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977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 panose="020F0502020204030204"/>
              </a:defRPr>
            </a:pPr>
            <a:r>
              <a:t>-&gt;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One-click structured evidence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 panose="020F0502020204030204"/>
              </a:defRPr>
            </a:pPr>
            <a:r>
              <a:t>No audit trail for AI-assisted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 panose="020F0502020204030204"/>
              </a:defRPr>
            </a:pPr>
            <a:r>
              <a:t>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Full explainability: query + context + response logged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 panose="020F0502020204030204"/>
              </a:defRPr>
            </a:pPr>
            <a:r>
              <a:t>Siloed tools: email, spreadsheets, document folders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166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 panose="020F0502020204030204"/>
              </a:defRPr>
            </a:pPr>
            <a:r>
              <a:t>-&gt;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5 unified surfaces: Streamlit, Agent, CoCo, MCP, Slack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 panose="020F0502020204030204"/>
              </a:defRPr>
            </a:pPr>
            <a:r>
              <a:t>SCALABILITY &amp; EXTENSIBILITY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6035040"/>
            <a:ext cx="3474720" cy="640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60807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 panose="020F0502020204030204"/>
              </a:defRPr>
            </a:pPr>
            <a:r>
              <a:t>Production 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6309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Dynamic tables handle millions of txns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59" y="6035040"/>
            <a:ext cx="3474720" cy="640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60807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 panose="020F0502020204030204"/>
              </a:defRPr>
            </a:pPr>
            <a:r>
              <a:t>New Regulations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6309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AI_EXTRACT + AI_CLASSIFY auto-process new docs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6035040"/>
            <a:ext cx="3474720" cy="64008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60807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 panose="020F0502020204030204"/>
              </a:defRPr>
            </a:pPr>
            <a:r>
              <a:t>Single-Script Deploy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6309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deploy_all.sql - paste and run on any account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 panose="020F0502020204030204"/>
              </a:defRPr>
            </a:pPr>
            <a:r>
              <a:t>COCO USAGE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 panose="020F0502020204030204"/>
              </a:defRPr>
            </a:pPr>
            <a:r>
              <a:t>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 panose="020F0502020204030204"/>
              </a:defRPr>
            </a:pPr>
            <a:r>
              <a:t>Built 100% with CoCo Desktop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Calibri" panose="020F0502020204030204"/>
              </a:defRPr>
            </a:pPr>
            <a:r>
              <a:t>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Data model, ontology, workflow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Calibri" panose="020F0502020204030204"/>
              </a:defRPr>
            </a:pPr>
            <a:r>
              <a:t>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All SQL, Python, YAML authored in CoCo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Calibri" panose="020F0502020204030204"/>
              </a:defRPr>
            </a:pPr>
            <a:r>
              <a:t>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SQL run, app deployed, tasks scheduled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7160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Calibri" panose="020F0502020204030204"/>
              </a:defRPr>
            </a:pPr>
            <a:r>
              <a:t>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 panose="020F0502020204030204"/>
              </a:defRPr>
            </a:pPr>
            <a:r>
              <a:t>8 validation tests + guardrail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60320"/>
            <a:ext cx="10698480" cy="13716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283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651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 panose="020F0502020204030204"/>
              </a:defRPr>
            </a:pPr>
            <a:r>
              <a:t>Hackathon Criteria - All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  Synthetic Data (20 customers, 50 txns)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  Data Pipeline (6 DTs, 3 tasks)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  Semantic View (4 VQRs)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  Streamlit App (5 pages)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  MCP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  Document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  Reusable Skills (3)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  Automations (3 scheduled tasks)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  Multi-Agent (3 agents)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  Multi-Surface (5)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  AI Guardrails (7 checks)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59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 panose="020F0502020204030204"/>
              </a:defRPr>
            </a:pPr>
            <a:r>
              <a:t>  Slack Bot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20624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 panose="020F0502020204030204"/>
              </a:defRPr>
            </a:pPr>
            <a:r>
              <a:t>40+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Snowflake Objects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420624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855F7"/>
                </a:solidFill>
                <a:latin typeface="Calibri" panose="020F0502020204030204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Cortex Agents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20624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alibri" panose="020F0502020204030204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Access Surfaces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4206240"/>
            <a:ext cx="2560320" cy="914400"/>
          </a:xfrm>
          <a:prstGeom prst="roundRect">
            <a:avLst/>
          </a:prstGeom>
          <a:solidFill>
            <a:srgbClr val="141E37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923C"/>
                </a:solidFill>
                <a:latin typeface="Calibri" panose="020F0502020204030204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 panose="020F0502020204030204"/>
              </a:defRPr>
            </a:pPr>
            <a:r>
              <a:t>Guardrail Checks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2E8F0"/>
                </a:solidFill>
                <a:latin typeface="Calibri" panose="020F0502020204030204"/>
              </a:defRPr>
            </a:pPr>
            <a:r>
              <a:t>Thank You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 panose="020F0502020204030204"/>
              </a:defRPr>
            </a:pPr>
            <a:r>
              <a:t>GitHub: github.com/rdevath21/risk-fraud-regulatory-intelligence-copilot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 panose="020F0502020204030204"/>
              </a:defRPr>
            </a:pPr>
            <a:r>
              <a:t>Single-script deployment: deploy/deploy_all.sql  |  Verified on 2 Snowflake accounts  |  Streamlit: RISK_FRAUD_COPILOT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7319</Words>
  <Application>WPS Presentation</Application>
  <PresentationFormat>On-screen Show (4:3)</PresentationFormat>
  <Paragraphs>364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Manrope SemiBold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rdeva</cp:lastModifiedBy>
  <cp:revision>2</cp:revision>
  <dcterms:created xsi:type="dcterms:W3CDTF">2013-01-27T09:14:00Z</dcterms:created>
  <dcterms:modified xsi:type="dcterms:W3CDTF">2026-10-02T23:59:14Z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77D2594F48D94366A6118DB246D25A12_12</vt:lpwstr>
  </property>
  <property fmtid="{D5CDD505-2E9C-101B-9397-08002B2CF9AE}" pid="3" name="KSOProductBuildVer">
    <vt:lpwstr>1033-12.1.0.28485</vt:lpwstr>
  </property>
</Properties>
</file>